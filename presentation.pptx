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AQI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Faisalabad,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</a:defRPr>
            </a:pPr>
            <a:r>
              <a:t>Real-time Air Quality Forecasting 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389120"/>
            <a:ext cx="54864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 b="0">
                <a:solidFill>
                  <a:srgbClr val="B0B0B0"/>
                </a:solidFill>
              </a:defRPr>
            </a:pPr>
            <a:r>
              <a:rPr dirty="0"/>
              <a:t>Developed by: </a:t>
            </a:r>
            <a:r>
              <a:rPr lang="en-US" dirty="0"/>
              <a:t>Muhammad </a:t>
            </a:r>
            <a:r>
              <a:rPr dirty="0"/>
              <a:t>Faheem</a:t>
            </a:r>
            <a:r>
              <a:rPr lang="en-US" dirty="0"/>
              <a:t> Raza</a:t>
            </a:r>
            <a:endParaRPr dirty="0"/>
          </a:p>
          <a:p>
            <a:pPr>
              <a:spcBef>
                <a:spcPts val="600"/>
              </a:spcBef>
              <a:defRPr sz="1600" b="0">
                <a:solidFill>
                  <a:srgbClr val="B0B0B0"/>
                </a:solidFill>
              </a:defRPr>
            </a:pPr>
            <a:r>
              <a:rPr dirty="0"/>
              <a:t>Internship: 10Pearls</a:t>
            </a:r>
          </a:p>
          <a:p>
            <a:pPr>
              <a:spcBef>
                <a:spcPts val="600"/>
              </a:spcBef>
              <a:defRPr sz="1400" b="0">
                <a:solidFill>
                  <a:srgbClr val="888888"/>
                </a:solidFill>
              </a:defRPr>
            </a:pPr>
            <a:r>
              <a:rPr dirty="0"/>
              <a:t>Stack: Python | scikit-learn | </a:t>
            </a:r>
            <a:r>
              <a:rPr dirty="0" err="1"/>
              <a:t>XGBoost</a:t>
            </a:r>
            <a:r>
              <a:rPr dirty="0"/>
              <a:t> | MongoDB | </a:t>
            </a:r>
            <a:r>
              <a:rPr dirty="0" err="1"/>
              <a:t>Streamlit</a:t>
            </a:r>
            <a:r>
              <a:rPr dirty="0"/>
              <a:t> |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 b="0">
                <a:solidFill>
                  <a:srgbClr val="B0B0B0"/>
                </a:solidFill>
              </a:defRPr>
            </a:pPr>
            <a:r>
              <a:t>Faisalabad: one of the most polluted cities in Pakistan</a:t>
            </a:r>
          </a:p>
          <a:p>
            <a:pPr>
              <a:spcBef>
                <a:spcPts val="400"/>
              </a:spcBef>
              <a:defRPr sz="1600" b="0">
                <a:solidFill>
                  <a:srgbClr val="B0B0B0"/>
                </a:solidFill>
              </a:defRPr>
            </a:pPr>
            <a:r>
              <a:t>PM2.5 regularly exceeds 150+ ug/m3 (Unhealthy)</a:t>
            </a:r>
          </a:p>
          <a:p>
            <a:pPr>
              <a:spcBef>
                <a:spcPts val="400"/>
              </a:spcBef>
              <a:defRPr sz="1600" b="0">
                <a:solidFill>
                  <a:srgbClr val="B0B0B0"/>
                </a:solidFill>
              </a:defRPr>
            </a:pPr>
            <a:r>
              <a:t>Citizens have no advance warning of AQI changes</a:t>
            </a:r>
          </a:p>
          <a:p>
            <a:pPr>
              <a:spcBef>
                <a:spcPts val="400"/>
              </a:spcBef>
              <a:defRPr sz="1600" b="0">
                <a:solidFill>
                  <a:srgbClr val="B0B0B0"/>
                </a:solidFill>
              </a:defRPr>
            </a:pPr>
            <a:r>
              <a:t>Health impacts: respiratory diseases, cardiovascular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Predict AQI 24, 48, and 72 hours ahead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Live Streamlit dashboard with real-time monitoring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Fully automated pipelines (zero manual intervention)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EPA-standard AQI with health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OpenWeather</a:t>
            </a:r>
            <a:br/>
            <a:r>
              <a:t>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164592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Fetcher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1645920" cy="822960"/>
          </a:xfrm>
          <a:prstGeom prst="round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MongoDB</a:t>
            </a:r>
            <a:br>
              <a:rPr dirty="0"/>
            </a:br>
            <a:r>
              <a:rPr dirty="0"/>
              <a:t>Atlas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164592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1645920" cy="822960"/>
          </a:xfrm>
          <a:prstGeom prst="round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ML</a:t>
            </a:r>
            <a:br/>
            <a:r>
              <a:t>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1828800"/>
            <a:ext cx="1645920" cy="822960"/>
          </a:xfrm>
          <a:prstGeom prst="round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Streamlit</a:t>
            </a:r>
            <a:br/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65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EB8FF"/>
                </a:solidFill>
              </a:defRPr>
            </a:pPr>
            <a:r>
              <a:rPr dirty="0"/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965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EB8FF"/>
                </a:solidFill>
              </a:defRPr>
            </a:pPr>
            <a:r>
              <a:rPr dirty="0"/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EB8FF"/>
                </a:solidFill>
              </a:defRPr>
            </a:pPr>
            <a:r>
              <a:rPr dirty="0"/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965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EB8FF"/>
                </a:solidFill>
              </a:defRPr>
            </a:pPr>
            <a:r>
              <a:rPr dirty="0"/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965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EB8FF"/>
                </a:solidFill>
              </a:defRPr>
            </a:pPr>
            <a:r>
              <a:rPr dirty="0"/>
              <a:t>-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29200" cy="137160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 Pipeline (Hourly)</a:t>
            </a:r>
            <a:br/>
            <a:br/>
            <a:r>
              <a:t>GitHub Actions runs every hour:</a:t>
            </a:r>
            <a:br/>
            <a:r>
              <a:t>data_fetcher.py -&gt; feature_engineering.py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74720"/>
            <a:ext cx="5029200" cy="137160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 Pipeline (Daily)</a:t>
            </a:r>
            <a:br/>
            <a:br/>
            <a:r>
              <a:t>GitHub Actions runs daily:</a:t>
            </a:r>
            <a:br/>
            <a:r>
              <a:t>train_model.py (3 models compared)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5029200" cy="914400"/>
          </a:xfrm>
          <a:prstGeom prst="roundRect">
            <a:avLst/>
          </a:prstGeom>
          <a:solidFill>
            <a:srgbClr val="20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Data: OpenWeather API (real-time) + Open-Meteo API (2yr backfill)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303520"/>
            <a:ext cx="5029200" cy="914400"/>
          </a:xfrm>
          <a:prstGeom prst="roundRect">
            <a:avLst/>
          </a:prstGeom>
          <a:solidFill>
            <a:srgbClr val="20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Deploy: Streamlit Cloud (auto-deploy on push)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Data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109728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17,424</a:t>
            </a:r>
            <a:br/>
            <a:r>
              <a:t>Hourly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200400" cy="109728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 Years</a:t>
            </a:r>
            <a:br/>
            <a:r>
              <a:t>Historical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200400" cy="109728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  <a:br/>
            <a:r>
              <a:t>Raw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Pollution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500" b="0">
                <a:solidFill>
                  <a:srgbClr val="B0B0B0"/>
                </a:solidFill>
              </a:defRPr>
            </a:pPr>
            <a:r>
              <a:t>PM2.5, PM10, NO2, O3, CO, SO2</a:t>
            </a:r>
          </a:p>
          <a:p>
            <a:pPr>
              <a:spcBef>
                <a:spcPts val="400"/>
              </a:spcBef>
              <a:defRPr sz="1500" b="0">
                <a:solidFill>
                  <a:srgbClr val="B0B0B0"/>
                </a:solidFill>
              </a:defRPr>
            </a:pPr>
            <a:r>
              <a:t>PM2.5 range: 3.4 - 486.2 ug/m3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Weather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500" b="0">
                <a:solidFill>
                  <a:srgbClr val="B0B0B0"/>
                </a:solidFill>
              </a:defRPr>
            </a:pPr>
            <a:r>
              <a:t>Temperature, Humidity, Pressure, Wind Speed</a:t>
            </a:r>
          </a:p>
          <a:p>
            <a:pPr>
              <a:spcBef>
                <a:spcPts val="400"/>
              </a:spcBef>
              <a:defRPr sz="1500" b="0">
                <a:solidFill>
                  <a:srgbClr val="B0B0B0"/>
                </a:solidFill>
              </a:defRPr>
            </a:pPr>
            <a:r>
              <a:t>Complete coverage for all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 PM2.5 as Target (not AQI)?</a:t>
            </a:r>
            <a:br/>
            <a:br/>
            <a:r>
              <a:t>OpenWeather AQI returns only 5 values (1-5). In Faisalabad, 97% = category 3.</a:t>
            </a:r>
            <a:br/>
            <a:r>
              <a:t>PM2.5 is continuous -&gt; suitable for regression. Predictions converted to EPA AQI for display.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Feature Engineering (37 Features)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01168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Time (7)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</a:defRPr>
            </a:pPr>
            <a:r>
              <a:t>hour, day_of_week, month, is_weekend,</a:t>
            </a:r>
            <a:br/>
            <a:r>
              <a:t>hour_sin, hour_cos,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Daily/weekly/seasonal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38528"/>
            <a:ext cx="201168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Weather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842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</a:defRPr>
            </a:pPr>
            <a:r>
              <a:t>temperature, humidity,</a:t>
            </a:r>
            <a:br/>
            <a:r>
              <a:t>pressure, wind_speed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75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Meteorological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88336"/>
            <a:ext cx="201168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Pollution 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3405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</a:defRPr>
            </a:pPr>
            <a:r>
              <a:t>pm2_5, pm10, no2, o3, co, so2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Current pollutant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201168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Lag (7)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83863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</a:defRPr>
            </a:pPr>
            <a:r>
              <a:t>aqi_lag_1h/3h/6h/12h/24h,</a:t>
            </a:r>
            <a:br/>
            <a:r>
              <a:t>pm25_lag_1h/24h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57530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Past values (1-24 hours ago)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87952"/>
            <a:ext cx="201168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Rolling (7)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336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</a:defRPr>
            </a:pPr>
            <a:r>
              <a:t>aqi_rolling_3h/6h/12h/24h,</a:t>
            </a:r>
            <a:br/>
            <a:r>
              <a:t>aqi_std_24h, pm25_rolling_6h/24h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25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Smoothed trends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201168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Change (6)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</a:defRPr>
            </a:pPr>
            <a:r>
              <a:t>aqi_change_1h/3h/6h/24h,</a:t>
            </a:r>
            <a:br/>
            <a:r>
              <a:t>pct_change_1h/24h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Rate of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 Data Leakage: Lag uses shift(+) = past only | Rolling = backward window | Targets use shift(-) = 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Multi-Horizon Target Creation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1188720"/>
          </a:xfrm>
          <a:prstGeom prst="roundRect">
            <a:avLst/>
          </a:prstGeom>
          <a:solidFill>
            <a:srgbClr val="10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target_24h = PM2.5 value 24 hours from now</a:t>
            </a:r>
            <a:br/>
            <a:r>
              <a:t>target_48h = PM2.5 value 48 hours from now</a:t>
            </a:r>
            <a:br/>
            <a:r>
              <a:t>target_72h = PM2.5 value 72 hours from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Example: How shift(-24)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EB8FF"/>
                </a:solidFill>
              </a:defRPr>
            </a:pPr>
            <a:r>
              <a:t>PM2.5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EB8FF"/>
                </a:solidFill>
              </a:defRPr>
            </a:pPr>
            <a:r>
              <a:t>target_24h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</a:defRPr>
            </a:pPr>
            <a:r>
              <a:t>Mon 10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B0"/>
                </a:solidFill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B0"/>
                </a:solidFill>
              </a:defRPr>
            </a:pPr>
            <a: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</a:defRPr>
            </a:pPr>
            <a:r>
              <a:t>PM2.5 at Tue 10 AM = 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</a:defRPr>
            </a:pPr>
            <a:r>
              <a:t>Mon 11 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B0"/>
                </a:solidFill>
              </a:defRPr>
            </a:pPr>
            <a:r>
              <a:t>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B0"/>
                </a:solidFill>
              </a:defRPr>
            </a:pPr>
            <a: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</a:defRPr>
            </a:pPr>
            <a:r>
              <a:t>PM2.5 at Tue 11 AM = 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</a:defRPr>
            </a:pPr>
            <a:r>
              <a:t>Mon 12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B0"/>
                </a:solidFill>
              </a:defRPr>
            </a:pPr>
            <a: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B0"/>
                </a:solidFill>
              </a:defRPr>
            </a:pPr>
            <a:r>
              <a:t>110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</a:defRPr>
            </a:pPr>
            <a:r>
              <a:t>PM2.5 at Tue 12 PM = 110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486400"/>
            <a:ext cx="9144000" cy="640080"/>
          </a:xfrm>
          <a:prstGeom prst="round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The model learns: given today's features -&gt; predict tomorrow's PM2.5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TimeSeriesSplit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 Not Random Split?</a:t>
            </a:r>
            <a:br/>
            <a:br/>
            <a:r>
              <a:t>Random split: hour 100 in training, hour 101 in testing -&gt; lag_1h of test = training value = DATA LEAKAGE</a:t>
            </a:r>
            <a:br/>
            <a:r>
              <a:t>TimeSeriesSplit: always train on past, test on future -&gt; no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Fold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Train: Feb-Jun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Test: Jul-Sep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Fold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Train: Feb-Sep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Test: Oct-Dec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Fold 3: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Train: Feb-Dec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Test: Jan-Mar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Fold 4: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Train: Feb-Mar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Test: Apr-Sep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B8FF"/>
                </a:solidFill>
              </a:defRPr>
            </a:pPr>
            <a:r>
              <a:t>Fold 5: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EB8FF"/>
                </a:solidFill>
              </a:defRPr>
            </a:pPr>
            <a:r>
              <a:t>Train: Feb-Sep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B8FF"/>
                </a:solidFill>
              </a:defRPr>
            </a:pPr>
            <a:r>
              <a:t>Test: Oct 2025-Feb 2026  &lt;-- 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3200400" cy="91440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14,440</a:t>
            </a:r>
            <a:br/>
            <a:r>
              <a:t>Training Samples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029200"/>
            <a:ext cx="3200400" cy="91440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2,888</a:t>
            </a:r>
            <a:br/>
            <a:r>
              <a:t>Test Samples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029200"/>
            <a:ext cx="3200400" cy="914400"/>
          </a:xfrm>
          <a:prstGeom prst="round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  <a:br/>
            <a:r>
              <a:t>Folds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Model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3200400"/>
          </a:xfrm>
          <a:prstGeom prst="roundRect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Ridge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D0FF"/>
                </a:solidFill>
              </a:defRPr>
            </a:pPr>
            <a:r>
              <a:t>Loss = S(y-y)^2 + a*S(w^2)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Linear model + L2 penalty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Prevents overfitting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Needs feature scaling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alpha =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3200400"/>
          </a:xfrm>
          <a:prstGeom prst="roundRect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D0FF"/>
                </a:solidFill>
              </a:defRPr>
            </a:pPr>
            <a:r>
              <a:t>y = mean(tree1...tree100)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100 independent decision trees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Random data + features per tree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Scale-invariant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max_depth =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3200400"/>
          </a:xfrm>
          <a:prstGeom prst="roundRect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D0FF"/>
                </a:solidFill>
              </a:defRPr>
            </a:pPr>
            <a:r>
              <a:t>y = S(tree1...tree100)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Sequential boosted trees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Each corrects previous errors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Learning rate = 0.1</a:t>
            </a:r>
          </a:p>
          <a:p>
            <a:pPr>
              <a:spcBef>
                <a:spcPts val="400"/>
              </a:spcBef>
              <a:defRPr sz="1300" b="0">
                <a:solidFill>
                  <a:srgbClr val="B0B0B0"/>
                </a:solidFill>
              </a:defRPr>
            </a:pPr>
            <a:r>
              <a:t>max_depth =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Multi-Output Prediction</a:t>
            </a:r>
            <a:br/>
            <a:br/>
            <a:r>
              <a:t>One model predicts all 3 horizons simultaneously: 24h | 48h | 72h</a:t>
            </a:r>
            <a:br/>
            <a:r>
              <a:t>Ridge &amp; RF: native support | XGBoost: MultiOutputRegressor wrapper</a:t>
            </a:r>
            <a:br/>
            <a:r>
              <a:t>Model selection: lowest average RMSE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Avg RMSE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24h R2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48h 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72h 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B8FF"/>
                </a:solidFill>
              </a:defRPr>
            </a:pPr>
            <a:r>
              <a:t>Avg R2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0972800" cy="54864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Ridge (Winner)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62.40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0.5130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0.3877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0.3177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0.4062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029200" cy="2286000"/>
          </a:xfrm>
          <a:prstGeom prst="roundRect">
            <a:avLst/>
          </a:prstGeom>
          <a:solidFill>
            <a:srgbClr val="1A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What R2 = 0.41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Explains 41% of variance in future PM2.5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Evaluated with TimeSeriesSplit (no leakage)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R2=1.0: perfect | R2=0: same as mean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For environmental forecasting without NWP,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  this is a legitimate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26080"/>
            <a:ext cx="5029200" cy="2286000"/>
          </a:xfrm>
          <a:prstGeom prst="roundRect">
            <a:avLst/>
          </a:prstGeom>
          <a:solidFill>
            <a:srgbClr val="1A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Why 72h Degrades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Predicting further = inherently harder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3 days: weather fronts, rain, wind changes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24h &gt; 48h &gt; 72h: expected degradation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Same pattern in all forecasting systems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Still positive R2 = genuine predictive 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Live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229600" cy="1097280"/>
          </a:xfrm>
          <a:prstGeom prst="round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aqi-predictor-npwwgzkzmbmbvdwbbfmruv.streamlit.app</a:t>
            </a:r>
            <a:br/>
            <a:r>
              <a:t>Live 24/7 - Updates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Dashboard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Current AQI with color-coded severity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Weather conditions display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Pollutant breakdown (PM2.5, PM10, NO2, O3)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72-hour forecast chart (Plotly interactive)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Health recommendations per AQI level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Model info sidebar (name, R2, RMSE)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Frontend: Streamlit + Plotly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Backend: Python + scikit-learn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Database: MongoDB Atlas (cloud)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APIs: OpenWeather + Open-Meteo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CI/CD: GitHub Actions</a:t>
            </a:r>
          </a:p>
          <a:p>
            <a:pPr>
              <a:spcBef>
                <a:spcPts val="400"/>
              </a:spcBef>
              <a:defRPr sz="1400" b="0">
                <a:solidFill>
                  <a:srgbClr val="B0B0B0"/>
                </a:solidFill>
              </a:defRPr>
            </a:pPr>
            <a:r>
              <a:t>Hosting: Streamlit Community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Fully Automated Pipelines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Pipeline (Hourly)</a:t>
            </a:r>
            <a:br/>
            <a:br/>
            <a:r>
              <a:t>Runs every hour via GitHub Actions:</a:t>
            </a:r>
            <a:br/>
            <a:br/>
            <a:r>
              <a:t>1. data_fetcher.py -&gt; OpenWeather API</a:t>
            </a:r>
            <a:br/>
            <a:r>
              <a:t>2. Save to MongoDB raw_data</a:t>
            </a:r>
            <a:br/>
            <a:r>
              <a:t>3. feature_engineering.py</a:t>
            </a:r>
            <a:br/>
            <a:r>
              <a:t>4. Save 37 features to MongoDB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Training Pipeline (Daily)</a:t>
            </a:r>
            <a:br/>
            <a:br/>
            <a:r>
              <a:t>Runs daily at midnight:</a:t>
            </a:r>
            <a:br/>
            <a:br/>
            <a:r>
              <a:t>1. Load features from MongoDB</a:t>
            </a:r>
            <a:br/>
            <a:r>
              <a:t>2. Train Ridge, RF, XGBoost</a:t>
            </a:r>
            <a:br/>
            <a:r>
              <a:t>3. Select best model (lowest RMSE)</a:t>
            </a:r>
            <a:br/>
            <a:r>
              <a:t>4. Save model binary to MongoDB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Zero Manual Intervention</a:t>
            </a:r>
            <a:br/>
            <a:br/>
            <a:r>
              <a:t>The system runs autonomously 24/7. Data collection, feature engineering,</a:t>
            </a:r>
            <a:br/>
            <a:r>
              <a:t>model retraining, and predictions all happen automatically.</a:t>
            </a:r>
            <a:br/>
            <a:r>
              <a:t>The model adapts to seasonal changes through daily retraining.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B8FF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74320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PM2.5 as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1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AQI from API has only 5 categories (97% same). PM2.5 is continuous.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74320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TimeSeriesSplit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402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Prevents data leakage from lag features. Train on past, test on future.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79"/>
            <a:ext cx="274320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 models compared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632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Auto-selects best model. Different data may favor different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274320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MongoDB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Accessible from local, GitHub Actions, and Streamlit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274320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Open-Meteo backfill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709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Free API, no key. 2 years of hourly data covering all seasons.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2743200" cy="640080"/>
          </a:xfrm>
          <a:prstGeom prst="roundRect">
            <a:avLst/>
          </a:prstGeom>
          <a:solidFill>
            <a:srgbClr val="25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EPA AQI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532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Standard breakpoint formula. PM2.5 -&gt; interpretable 0-500 AQI.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0B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0">
                <a:solidFill>
                  <a:srgbClr val="7EB8FF"/>
                </a:solidFill>
              </a:defRPr>
            </a:pPr>
            <a:r>
              <a:t>GitHub: github.com/rzfaheem/aqi-predictor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0">
                <a:solidFill>
                  <a:srgbClr val="7EB8FF"/>
                </a:solidFill>
              </a:defRPr>
            </a:pPr>
            <a:r>
              <a:t>Dashboard: aqi-predictor-npwwgzkzmbmbvdwbbfmruv.streamlit.app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44444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1282</Words>
  <Application>Microsoft Office PowerPoint</Application>
  <PresentationFormat>Widescreen</PresentationFormat>
  <Paragraphs>213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22-NTU-CS-1194</cp:lastModifiedBy>
  <cp:revision>3</cp:revision>
  <dcterms:created xsi:type="dcterms:W3CDTF">2013-01-27T09:14:16Z</dcterms:created>
  <dcterms:modified xsi:type="dcterms:W3CDTF">2026-02-21T11:25:59Z</dcterms:modified>
  <cp:category/>
</cp:coreProperties>
</file>